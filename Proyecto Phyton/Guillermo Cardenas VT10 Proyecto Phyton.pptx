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893300" cy="6858000"/>
  <p:notesSz cx="6858000" cy="9144000"/>
  <p:embeddedFontLst>
    <p:embeddedFont>
      <p:font typeface="Arial" charset="1" panose="020B0502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notesSlides/notesSlide9.xml" Type="http://schemas.openxmlformats.org/officeDocument/2006/relationships/notesSlide"/><Relationship Id="rId28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6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6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2.jpe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2825" cy="6858000"/>
          </a:xfrm>
          <a:custGeom>
            <a:avLst/>
            <a:gdLst/>
            <a:ahLst/>
            <a:cxnLst/>
            <a:rect r="r" b="b" t="t" l="l"/>
            <a:pathLst>
              <a:path h="6858000" w="9902825">
                <a:moveTo>
                  <a:pt x="0" y="0"/>
                </a:moveTo>
                <a:lnTo>
                  <a:pt x="9902825" y="0"/>
                </a:lnTo>
                <a:lnTo>
                  <a:pt x="990282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08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49468" y="450000"/>
            <a:ext cx="1282022" cy="198000"/>
          </a:xfrm>
          <a:custGeom>
            <a:avLst/>
            <a:gdLst/>
            <a:ahLst/>
            <a:cxnLst/>
            <a:rect r="r" b="b" t="t" l="l"/>
            <a:pathLst>
              <a:path h="198000" w="1282022">
                <a:moveTo>
                  <a:pt x="0" y="0"/>
                </a:moveTo>
                <a:lnTo>
                  <a:pt x="1282022" y="0"/>
                </a:lnTo>
                <a:lnTo>
                  <a:pt x="1282022" y="198000"/>
                </a:lnTo>
                <a:lnTo>
                  <a:pt x="0" y="198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65631" y="6141164"/>
            <a:ext cx="1371564" cy="450000"/>
          </a:xfrm>
          <a:custGeom>
            <a:avLst/>
            <a:gdLst/>
            <a:ahLst/>
            <a:cxnLst/>
            <a:rect r="r" b="b" t="t" l="l"/>
            <a:pathLst>
              <a:path h="450000" w="1371564">
                <a:moveTo>
                  <a:pt x="0" y="0"/>
                </a:moveTo>
                <a:lnTo>
                  <a:pt x="1371564" y="0"/>
                </a:lnTo>
                <a:lnTo>
                  <a:pt x="1371564" y="450000"/>
                </a:lnTo>
                <a:lnTo>
                  <a:pt x="0" y="450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25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90000" y="4272375"/>
            <a:ext cx="5832526" cy="416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C&amp;P Course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24689" y="4320000"/>
            <a:ext cx="54000" cy="360000"/>
            <a:chOff x="0" y="0"/>
            <a:chExt cx="72000" cy="48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009" cy="480060"/>
            </a:xfrm>
            <a:custGeom>
              <a:avLst/>
              <a:gdLst/>
              <a:ahLst/>
              <a:cxnLst/>
              <a:rect r="r" b="b" t="t" l="l"/>
              <a:pathLst>
                <a:path h="480060" w="72009">
                  <a:moveTo>
                    <a:pt x="0" y="0"/>
                  </a:moveTo>
                  <a:lnTo>
                    <a:pt x="72009" y="0"/>
                  </a:lnTo>
                  <a:lnTo>
                    <a:pt x="72009" y="480060"/>
                  </a:lnTo>
                  <a:lnTo>
                    <a:pt x="0" y="480060"/>
                  </a:lnTo>
                  <a:close/>
                </a:path>
              </a:pathLst>
            </a:custGeom>
            <a:solidFill>
              <a:srgbClr val="1428A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20000" y="2436873"/>
            <a:ext cx="6419031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2825" cy="6858000"/>
          </a:xfrm>
          <a:custGeom>
            <a:avLst/>
            <a:gdLst/>
            <a:ahLst/>
            <a:cxnLst/>
            <a:rect r="r" b="b" t="t" l="l"/>
            <a:pathLst>
              <a:path h="6858000" w="9902825">
                <a:moveTo>
                  <a:pt x="0" y="0"/>
                </a:moveTo>
                <a:lnTo>
                  <a:pt x="9902825" y="0"/>
                </a:lnTo>
                <a:lnTo>
                  <a:pt x="990282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085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43118" y="6319506"/>
            <a:ext cx="9010239" cy="9525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49468" y="6469430"/>
            <a:ext cx="2888788" cy="19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19769" y="2095280"/>
            <a:ext cx="59989" cy="1759369"/>
            <a:chOff x="0" y="0"/>
            <a:chExt cx="79985" cy="2345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0010" cy="2345817"/>
            </a:xfrm>
            <a:custGeom>
              <a:avLst/>
              <a:gdLst/>
              <a:ahLst/>
              <a:cxnLst/>
              <a:rect r="r" b="b" t="t" l="l"/>
              <a:pathLst>
                <a:path h="2345817" w="80010">
                  <a:moveTo>
                    <a:pt x="0" y="0"/>
                  </a:moveTo>
                  <a:lnTo>
                    <a:pt x="80010" y="0"/>
                  </a:lnTo>
                  <a:lnTo>
                    <a:pt x="80010" y="2345817"/>
                  </a:lnTo>
                  <a:lnTo>
                    <a:pt x="0" y="2345817"/>
                  </a:lnTo>
                  <a:close/>
                </a:path>
              </a:pathLst>
            </a:custGeom>
            <a:solidFill>
              <a:srgbClr val="1428A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19769" y="4157762"/>
            <a:ext cx="59989" cy="323165"/>
            <a:chOff x="0" y="0"/>
            <a:chExt cx="79985" cy="4308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0010" cy="430911"/>
            </a:xfrm>
            <a:custGeom>
              <a:avLst/>
              <a:gdLst/>
              <a:ahLst/>
              <a:cxnLst/>
              <a:rect r="r" b="b" t="t" l="l"/>
              <a:pathLst>
                <a:path h="430911" w="80010">
                  <a:moveTo>
                    <a:pt x="0" y="0"/>
                  </a:moveTo>
                  <a:lnTo>
                    <a:pt x="80010" y="0"/>
                  </a:lnTo>
                  <a:lnTo>
                    <a:pt x="80010" y="430911"/>
                  </a:lnTo>
                  <a:lnTo>
                    <a:pt x="0" y="430911"/>
                  </a:lnTo>
                  <a:close/>
                </a:path>
              </a:pathLst>
            </a:custGeom>
            <a:solidFill>
              <a:srgbClr val="1428A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45929" y="4118977"/>
            <a:ext cx="157328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2099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C&amp;P Course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5929" y="2038130"/>
            <a:ext cx="693430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de las acciones de las 3 principales compañías de diseños de GPUs y CPUs.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5929" y="3333750"/>
            <a:ext cx="5479711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Grupo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88961" y="6469426"/>
            <a:ext cx="613839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9"/>
              </a:lnSpc>
            </a:pPr>
            <a:r>
              <a:rPr lang="en-US" sz="1099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‹Nº 1›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2825" cy="6858000"/>
          </a:xfrm>
          <a:custGeom>
            <a:avLst/>
            <a:gdLst/>
            <a:ahLst/>
            <a:cxnLst/>
            <a:rect r="r" b="b" t="t" l="l"/>
            <a:pathLst>
              <a:path h="6858000" w="9902825">
                <a:moveTo>
                  <a:pt x="0" y="0"/>
                </a:moveTo>
                <a:lnTo>
                  <a:pt x="9902825" y="0"/>
                </a:lnTo>
                <a:lnTo>
                  <a:pt x="990282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085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03589" y="6288642"/>
            <a:ext cx="9010239" cy="9525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839518" y="6473102"/>
            <a:ext cx="613839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9"/>
              </a:lnSpc>
            </a:pPr>
            <a:r>
              <a:rPr lang="en-US" sz="1099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‹Nº 2›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9468" y="6469426"/>
            <a:ext cx="2888788" cy="19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57355" y="6473102"/>
            <a:ext cx="5486385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9"/>
              </a:lnSpc>
            </a:pPr>
            <a:r>
              <a:rPr lang="en-US" sz="1099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Análisis de las acciones de las 3 principales compañías de producción de GPUs y CPUs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5800" y="320242"/>
            <a:ext cx="132557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2993" y="1168955"/>
            <a:ext cx="7930747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Analizar los precios de las acciones de las principales compañías de GPUs (Nvidia, AMD e Intel) en relación con sus innovaciones tecnológicas y eventos externos significativos desde 1980 hasta 2024.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3638" y="2702480"/>
            <a:ext cx="7620103" cy="338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Recolectar y consolidar datos históricos.</a:t>
            </a:r>
          </a:p>
          <a:p>
            <a:pPr algn="l">
              <a:lnSpc>
                <a:spcPts val="2640"/>
              </a:lnSpc>
            </a:pP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Analizar la influencia de las innovaciones tecnológicas.</a:t>
            </a:r>
          </a:p>
          <a:p>
            <a:pPr algn="l">
              <a:lnSpc>
                <a:spcPts val="2640"/>
              </a:lnSpc>
            </a:pP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Establecer la relación entre eventos externos significativos.</a:t>
            </a:r>
          </a:p>
          <a:p>
            <a:pPr algn="l">
              <a:lnSpc>
                <a:spcPts val="2640"/>
              </a:lnSpc>
            </a:pP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Proporcionar visualizaciones mediante gráficos.</a:t>
            </a:r>
          </a:p>
          <a:p>
            <a:pPr algn="l">
              <a:lnSpc>
                <a:spcPts val="2640"/>
              </a:lnSpc>
            </a:pPr>
          </a:p>
          <a:p>
            <a:pPr algn="l" marL="474981" indent="-237491" lvl="1">
              <a:lnSpc>
                <a:spcPts val="2640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Documentar y comunicar las conclusiones.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2825" cy="6858000"/>
          </a:xfrm>
          <a:custGeom>
            <a:avLst/>
            <a:gdLst/>
            <a:ahLst/>
            <a:cxnLst/>
            <a:rect r="r" b="b" t="t" l="l"/>
            <a:pathLst>
              <a:path h="6858000" w="9902825">
                <a:moveTo>
                  <a:pt x="0" y="0"/>
                </a:moveTo>
                <a:lnTo>
                  <a:pt x="9902825" y="0"/>
                </a:lnTo>
                <a:lnTo>
                  <a:pt x="990282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085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03589" y="6288642"/>
            <a:ext cx="9010239" cy="9525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656398" y="1687765"/>
            <a:ext cx="5796959" cy="3811947"/>
          </a:xfrm>
          <a:custGeom>
            <a:avLst/>
            <a:gdLst/>
            <a:ahLst/>
            <a:cxnLst/>
            <a:rect r="r" b="b" t="t" l="l"/>
            <a:pathLst>
              <a:path h="3811947" w="5796959">
                <a:moveTo>
                  <a:pt x="0" y="0"/>
                </a:moveTo>
                <a:lnTo>
                  <a:pt x="5796959" y="0"/>
                </a:lnTo>
                <a:lnTo>
                  <a:pt x="5796959" y="3811947"/>
                </a:lnTo>
                <a:lnTo>
                  <a:pt x="0" y="38119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522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39518" y="6473102"/>
            <a:ext cx="613839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9"/>
              </a:lnSpc>
            </a:pPr>
            <a:r>
              <a:rPr lang="en-US" sz="1099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‹Nº 3›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9468" y="6469426"/>
            <a:ext cx="2888788" cy="19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57355" y="6473102"/>
            <a:ext cx="5486385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9"/>
              </a:lnSpc>
            </a:pPr>
            <a:r>
              <a:rPr lang="en-US" sz="1099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Análisis de las acciones de las 3 principales compañías de producción de GPUs y CPUs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9468" y="1123950"/>
            <a:ext cx="3010127" cy="504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Este gráfico ayuda a visualizar y comparar las tendencias de precios, permitiendo identificar patrones de crecimiento, períodos de estabilidad o volatilidad, y cómo cada empresa ha respondido a eventos significativos y avances tecnológicos. Es crucial para analizar el rendimiento histórico y proyectar posibles tendencias futuras.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3589" y="238125"/>
            <a:ext cx="439585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Gráfico de Precios Promedio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2825" cy="6858000"/>
          </a:xfrm>
          <a:custGeom>
            <a:avLst/>
            <a:gdLst/>
            <a:ahLst/>
            <a:cxnLst/>
            <a:rect r="r" b="b" t="t" l="l"/>
            <a:pathLst>
              <a:path h="6858000" w="9902825">
                <a:moveTo>
                  <a:pt x="0" y="0"/>
                </a:moveTo>
                <a:lnTo>
                  <a:pt x="9902825" y="0"/>
                </a:lnTo>
                <a:lnTo>
                  <a:pt x="990282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085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03589" y="6288642"/>
            <a:ext cx="9010239" cy="9525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839518" y="6473102"/>
            <a:ext cx="613839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9"/>
              </a:lnSpc>
            </a:pPr>
            <a:r>
              <a:rPr lang="en-US" sz="1099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‹Nº 4›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9468" y="6469426"/>
            <a:ext cx="2888788" cy="19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57355" y="6473102"/>
            <a:ext cx="5486385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9"/>
              </a:lnSpc>
            </a:pPr>
            <a:r>
              <a:rPr lang="en-US" sz="1099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Análisis de las acciones de las 3 principales compañías de producción de GPUs y CPUs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99452" y="1727183"/>
            <a:ext cx="5771466" cy="4046094"/>
          </a:xfrm>
          <a:custGeom>
            <a:avLst/>
            <a:gdLst/>
            <a:ahLst/>
            <a:cxnLst/>
            <a:rect r="r" b="b" t="t" l="l"/>
            <a:pathLst>
              <a:path h="4046094" w="5771466">
                <a:moveTo>
                  <a:pt x="0" y="0"/>
                </a:moveTo>
                <a:lnTo>
                  <a:pt x="5771467" y="0"/>
                </a:lnTo>
                <a:lnTo>
                  <a:pt x="5771467" y="4046094"/>
                </a:lnTo>
                <a:lnTo>
                  <a:pt x="0" y="40460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214" t="-16238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200548" y="1368980"/>
            <a:ext cx="3188778" cy="471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Representa el porcentaje de veces que las acciones han tenido el mayor valor, ayuda a visualizar cuál de las tres compañías ha tenido una mayor cantidad de días en los que sus acciones alcanzaron el valor más alto, proporcionando una idea de su rendimiento relativo y dominancia en  en términos de valor máximo.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3589" y="238125"/>
            <a:ext cx="602067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Gráfico de porcentaje de valor mas alto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2825" cy="6858000"/>
          </a:xfrm>
          <a:custGeom>
            <a:avLst/>
            <a:gdLst/>
            <a:ahLst/>
            <a:cxnLst/>
            <a:rect r="r" b="b" t="t" l="l"/>
            <a:pathLst>
              <a:path h="6858000" w="9902825">
                <a:moveTo>
                  <a:pt x="0" y="0"/>
                </a:moveTo>
                <a:lnTo>
                  <a:pt x="9902825" y="0"/>
                </a:lnTo>
                <a:lnTo>
                  <a:pt x="990282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085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03589" y="6288642"/>
            <a:ext cx="9010239" cy="9525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900830" y="1613151"/>
            <a:ext cx="5797803" cy="3961176"/>
          </a:xfrm>
          <a:custGeom>
            <a:avLst/>
            <a:gdLst/>
            <a:ahLst/>
            <a:cxnLst/>
            <a:rect r="r" b="b" t="t" l="l"/>
            <a:pathLst>
              <a:path h="3961176" w="5797803">
                <a:moveTo>
                  <a:pt x="0" y="0"/>
                </a:moveTo>
                <a:lnTo>
                  <a:pt x="5797803" y="0"/>
                </a:lnTo>
                <a:lnTo>
                  <a:pt x="5797803" y="3961175"/>
                </a:lnTo>
                <a:lnTo>
                  <a:pt x="0" y="39611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816" r="-55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39518" y="6473102"/>
            <a:ext cx="613839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9"/>
              </a:lnSpc>
            </a:pPr>
            <a:r>
              <a:rPr lang="en-US" sz="1099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‹Nº 5›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9468" y="6469426"/>
            <a:ext cx="2888788" cy="19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57355" y="6473102"/>
            <a:ext cx="5486385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9"/>
              </a:lnSpc>
            </a:pPr>
            <a:r>
              <a:rPr lang="en-US" sz="1099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Análisis de las acciones de las 3 principales compañías de producción de GPUs y CPUs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3589" y="1212488"/>
            <a:ext cx="3271855" cy="471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El gráfico muestra el volumen diario de movimientos, lo que representa la cantidad total de acciones negociadas cada día. Este ayuda a visualizar el nivel de actividad del mercado y a identificar días con volúmenes de negociación anormales lo que indica eventos significativos o cambios en el interés.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9468" y="238125"/>
            <a:ext cx="801477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Gráfico de numero de acciones negociadas por día: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2825" cy="6858000"/>
          </a:xfrm>
          <a:custGeom>
            <a:avLst/>
            <a:gdLst/>
            <a:ahLst/>
            <a:cxnLst/>
            <a:rect r="r" b="b" t="t" l="l"/>
            <a:pathLst>
              <a:path h="6858000" w="9902825">
                <a:moveTo>
                  <a:pt x="0" y="0"/>
                </a:moveTo>
                <a:lnTo>
                  <a:pt x="9902825" y="0"/>
                </a:lnTo>
                <a:lnTo>
                  <a:pt x="990282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085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03589" y="6288642"/>
            <a:ext cx="9010239" cy="9525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39345" y="1272079"/>
            <a:ext cx="5796959" cy="4313841"/>
          </a:xfrm>
          <a:custGeom>
            <a:avLst/>
            <a:gdLst/>
            <a:ahLst/>
            <a:cxnLst/>
            <a:rect r="r" b="b" t="t" l="l"/>
            <a:pathLst>
              <a:path h="4313841" w="5796959">
                <a:moveTo>
                  <a:pt x="0" y="0"/>
                </a:moveTo>
                <a:lnTo>
                  <a:pt x="5796960" y="0"/>
                </a:lnTo>
                <a:lnTo>
                  <a:pt x="5796960" y="4313842"/>
                </a:lnTo>
                <a:lnTo>
                  <a:pt x="0" y="43138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39518" y="6473102"/>
            <a:ext cx="613839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9"/>
              </a:lnSpc>
            </a:pPr>
            <a:r>
              <a:rPr lang="en-US" sz="1099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‹Nº 6›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9468" y="6469426"/>
            <a:ext cx="2888788" cy="19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57355" y="6473102"/>
            <a:ext cx="5486385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9"/>
              </a:lnSpc>
            </a:pPr>
            <a:r>
              <a:rPr lang="en-US" sz="1099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Análisis de las acciones de las 3 principales compañías de producción de GPUs y CPUs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41284" y="1368980"/>
            <a:ext cx="3213280" cy="471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  <a:spcBef>
                <a:spcPct val="0"/>
              </a:spcBef>
            </a:pPr>
            <a:r>
              <a:rPr lang="en-US" sz="2200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Este gráfico permite visualizar qué compañía ha tenido el mayor movimiento de acciones en el mercado, reflejando el interés y la actividad de los inversores a lo largo del tiempo. Es una herramienta útil para entender la liquidez y la popularidad de las acciones de cada empresa en el mercado financiero.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9468" y="238125"/>
            <a:ext cx="91050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Gráfico del total de acciones negociadas</a:t>
            </a: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2825" cy="6858000"/>
          </a:xfrm>
          <a:custGeom>
            <a:avLst/>
            <a:gdLst/>
            <a:ahLst/>
            <a:cxnLst/>
            <a:rect r="r" b="b" t="t" l="l"/>
            <a:pathLst>
              <a:path h="6858000" w="9902825">
                <a:moveTo>
                  <a:pt x="0" y="0"/>
                </a:moveTo>
                <a:lnTo>
                  <a:pt x="9902825" y="0"/>
                </a:lnTo>
                <a:lnTo>
                  <a:pt x="990282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085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03589" y="6288642"/>
            <a:ext cx="9010239" cy="9525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595437" y="1560238"/>
            <a:ext cx="6188135" cy="4174368"/>
          </a:xfrm>
          <a:custGeom>
            <a:avLst/>
            <a:gdLst/>
            <a:ahLst/>
            <a:cxnLst/>
            <a:rect r="r" b="b" t="t" l="l"/>
            <a:pathLst>
              <a:path h="4174368" w="6188135">
                <a:moveTo>
                  <a:pt x="0" y="0"/>
                </a:moveTo>
                <a:lnTo>
                  <a:pt x="6188136" y="0"/>
                </a:lnTo>
                <a:lnTo>
                  <a:pt x="6188136" y="4174368"/>
                </a:lnTo>
                <a:lnTo>
                  <a:pt x="0" y="41743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94" t="-15228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39518" y="6473102"/>
            <a:ext cx="613839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9"/>
              </a:lnSpc>
            </a:pPr>
            <a:r>
              <a:rPr lang="en-US" sz="1099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‹Nº 7›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9468" y="6469426"/>
            <a:ext cx="2888788" cy="19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57355" y="6473102"/>
            <a:ext cx="5486385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9"/>
              </a:lnSpc>
            </a:pPr>
            <a:r>
              <a:rPr lang="en-US" sz="1099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Análisis de las acciones de las 3 principales compañías de producción de GPUs y CPUs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8731" y="313377"/>
            <a:ext cx="91050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Gráfico comparativo historico del los valores</a:t>
            </a: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2039" y="1248277"/>
            <a:ext cx="2856217" cy="471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545454"/>
                </a:solidFill>
                <a:latin typeface="Arial"/>
                <a:ea typeface="Arial"/>
                <a:cs typeface="Arial"/>
                <a:sym typeface="Arial"/>
              </a:rPr>
              <a:t>Este permite identificar fácilmente los rangos de precios en los que se han movido las acciones, comparando sus puntos altos, bajos y sus promedios a lo largo del tiempo. Es una herramienta útil para comprender la volatilidad y estabilidad relativa de las acciones de estas compañías.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902825" cy="6858000"/>
          </a:xfrm>
          <a:custGeom>
            <a:avLst/>
            <a:gdLst/>
            <a:ahLst/>
            <a:cxnLst/>
            <a:rect r="r" b="b" t="t" l="l"/>
            <a:pathLst>
              <a:path h="6858000" w="9902825">
                <a:moveTo>
                  <a:pt x="0" y="0"/>
                </a:moveTo>
                <a:lnTo>
                  <a:pt x="9902825" y="0"/>
                </a:lnTo>
                <a:lnTo>
                  <a:pt x="990282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2085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03589" y="6288642"/>
            <a:ext cx="9010239" cy="9525"/>
          </a:xfrm>
          <a:prstGeom prst="line">
            <a:avLst/>
          </a:prstGeom>
          <a:ln cap="rnd" w="9525">
            <a:solidFill>
              <a:srgbClr val="BFBFB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8839518" y="6473102"/>
            <a:ext cx="613839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9"/>
              </a:lnSpc>
            </a:pPr>
            <a:r>
              <a:rPr lang="en-US" sz="1099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‹Nº 7›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9468" y="6469426"/>
            <a:ext cx="2888788" cy="19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Samsung Innovation Campus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57355" y="6473102"/>
            <a:ext cx="5486385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19"/>
              </a:lnSpc>
            </a:pPr>
            <a:r>
              <a:rPr lang="en-US" sz="1099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Análisis de las acciones de las 3 principales compañías de producción de GPUs y CPUs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8731" y="313377"/>
            <a:ext cx="910509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3039" y="1248277"/>
            <a:ext cx="8116747" cy="471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Tendencias Históricas.</a:t>
            </a:r>
          </a:p>
          <a:p>
            <a:pPr algn="just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Impacto de Innovaciones Tecnológicas.</a:t>
            </a:r>
          </a:p>
          <a:p>
            <a:pPr algn="just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Influencia de Eventos Externos.</a:t>
            </a:r>
          </a:p>
          <a:p>
            <a:pPr algn="just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Visualización y Comprensión.</a:t>
            </a:r>
          </a:p>
          <a:p>
            <a:pPr algn="just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Predicciones y Proyecciones.</a:t>
            </a:r>
          </a:p>
          <a:p>
            <a:pPr algn="just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 para la Comunidad Financiera.</a:t>
            </a:r>
          </a:p>
          <a:p>
            <a:pPr algn="just">
              <a:lnSpc>
                <a:spcPts val="2639"/>
              </a:lnSpc>
              <a:spcBef>
                <a:spcPct val="0"/>
              </a:spcBef>
            </a:pPr>
          </a:p>
          <a:p>
            <a:pPr algn="just">
              <a:lnSpc>
                <a:spcPts val="263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resumen, este proyecto ha proporcionado una comprensión profunda de las dinámicas del mercado de los semiconductores, destacando la importancia de las innovaciones tecnológicas y los eventos externos en la determinación de los precios de las acciones. Las herramientas y modelos desarrollados ofrecen una base sólida para futuras investigaciones y análisis en el ámbito financiero de esta industria.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" y="4395"/>
            <a:ext cx="9899651" cy="6853605"/>
          </a:xfrm>
          <a:custGeom>
            <a:avLst/>
            <a:gdLst/>
            <a:ahLst/>
            <a:cxnLst/>
            <a:rect r="r" b="b" t="t" l="l"/>
            <a:pathLst>
              <a:path h="6853605" w="9899651">
                <a:moveTo>
                  <a:pt x="0" y="0"/>
                </a:moveTo>
                <a:lnTo>
                  <a:pt x="9899651" y="0"/>
                </a:lnTo>
                <a:lnTo>
                  <a:pt x="9899651" y="6853605"/>
                </a:lnTo>
                <a:lnTo>
                  <a:pt x="0" y="6853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" y="0"/>
            <a:ext cx="9899651" cy="6858000"/>
            <a:chOff x="0" y="0"/>
            <a:chExt cx="13199535" cy="914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19949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3199490">
                  <a:moveTo>
                    <a:pt x="0" y="0"/>
                  </a:moveTo>
                  <a:lnTo>
                    <a:pt x="13199490" y="0"/>
                  </a:lnTo>
                  <a:lnTo>
                    <a:pt x="13199490" y="9144000"/>
                  </a:lnTo>
                  <a:lnTo>
                    <a:pt x="0" y="9144000"/>
                  </a:lnTo>
                  <a:close/>
                </a:path>
              </a:pathLst>
            </a:custGeom>
            <a:solidFill>
              <a:srgbClr val="1428A0">
                <a:alpha val="89412"/>
              </a:srgbClr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449468" y="5648457"/>
            <a:ext cx="9000714" cy="759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ⓒ2021 SAMSUNG. All rights reserved.</a:t>
            </a:r>
          </a:p>
          <a:p>
            <a:pPr algn="l">
              <a:lnSpc>
                <a:spcPts val="1200"/>
              </a:lnSpc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Samsung Electronics Corporate Citizenship Office holds the copyright of book.</a:t>
            </a:r>
          </a:p>
          <a:p>
            <a:pPr algn="l">
              <a:lnSpc>
                <a:spcPts val="1200"/>
              </a:lnSpc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book is a literary property protected by copyright law so reprint and reproduction without permission are prohibited. </a:t>
            </a:r>
          </a:p>
          <a:p>
            <a:pPr algn="l">
              <a:lnSpc>
                <a:spcPts val="1200"/>
              </a:lnSpc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710235" y="3022951"/>
            <a:ext cx="2476006" cy="812098"/>
          </a:xfrm>
          <a:custGeom>
            <a:avLst/>
            <a:gdLst/>
            <a:ahLst/>
            <a:cxnLst/>
            <a:rect r="r" b="b" t="t" l="l"/>
            <a:pathLst>
              <a:path h="812098" w="2476006">
                <a:moveTo>
                  <a:pt x="0" y="0"/>
                </a:moveTo>
                <a:lnTo>
                  <a:pt x="2476005" y="0"/>
                </a:lnTo>
                <a:lnTo>
                  <a:pt x="2476005" y="812098"/>
                </a:lnTo>
                <a:lnTo>
                  <a:pt x="0" y="812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2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9468" y="450000"/>
            <a:ext cx="1290568" cy="198000"/>
          </a:xfrm>
          <a:custGeom>
            <a:avLst/>
            <a:gdLst/>
            <a:ahLst/>
            <a:cxnLst/>
            <a:rect r="r" b="b" t="t" l="l"/>
            <a:pathLst>
              <a:path h="198000" w="1290568">
                <a:moveTo>
                  <a:pt x="0" y="0"/>
                </a:moveTo>
                <a:lnTo>
                  <a:pt x="1290568" y="0"/>
                </a:lnTo>
                <a:lnTo>
                  <a:pt x="1290568" y="198000"/>
                </a:lnTo>
                <a:lnTo>
                  <a:pt x="0" y="198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DAGWkxuxVUw</dc:identifier>
  <dcterms:modified xsi:type="dcterms:W3CDTF">2011-08-01T06:04:30Z</dcterms:modified>
  <cp:revision>1</cp:revision>
  <dc:title>PLANTILLA PARA PRESENTACION DEL PROYECTO CON FORMATO SAMSUNG.pptx</dc:title>
</cp:coreProperties>
</file>